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10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4891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Hi, I'm Janam from NC State. For the Cotiviti screening I chose Topic 2 and built a working prototype to prove a point about trustworthy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more capable these models get, the less we can trust them to decide. That's the wrong property for an audit-heavy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engine that decides if a drug fits a patient is the same engine that decides if a claim fits a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three trends set up why my architecture is the right bet.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LLM never decides. It receives an already-ranked answer and may only explain it. That's the whole trust argument in one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one recommendation end to end. Every number here is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at the citation and the feature bars: every number here is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system doesn't just say no — it says no, because eGFR 24 contraindicates metformin per the guideline.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 reviewer disagrees, they can see which feature drove the score. That's debuggable. A neural black box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Optional. Delete this slide if you don't use the pipeline-log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cost of a wrong, unexplained answer in this industry is measured in audits and appeals.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a domain where every decision can be contested, the company that makes auditable AI cheaper than opaque AI wins. My POC is a working blueprint.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2451" y="1417320"/>
            <a:ext cx="11326761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 dirty="0">
                <a:solidFill>
                  <a:srgbClr val="FFFFFF"/>
                </a:solidFill>
                <a:latin typeface="Calibri"/>
              </a:rPr>
              <a:t>Clinical Decision Making &amp; Pattern Recognition in Health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 i="1">
                <a:solidFill>
                  <a:srgbClr val="14B8A6"/>
                </a:solidFill>
                <a:latin typeface="Calibri"/>
              </a:rPr>
              <a:t>Auditable Agentic AI for Treatment, Payment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Janam Ajay Patel</a:t>
            </a:r>
          </a:p>
          <a:p>
            <a:r>
              <a:rPr sz="1500" b="0" i="0">
                <a:solidFill>
                  <a:srgbClr val="C9D6DE"/>
                </a:solidFill>
                <a:latin typeface="Calibri"/>
              </a:rPr>
              <a:t>M.S. Computer Science, North Carolina State University</a:t>
            </a:r>
          </a:p>
          <a:p>
            <a:r>
              <a:rPr sz="1500" b="0" i="0">
                <a:solidFill>
                  <a:srgbClr val="C9D6DE"/>
                </a:solidFill>
                <a:latin typeface="Calibri"/>
              </a:rPr>
              <a:t>Cotiviti Intern Screening — Topic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8A8C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2A43"/>
                </a:solidFill>
                <a:latin typeface="Calibri"/>
              </a:rPr>
              <a:t>Generative AI is powerful but untrustworthy for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LLMs hallucinate — they invent justifications that sound right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In healthcare, every decision can be audited, appealed, or regulated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A black-box "the AI said so" answer is unusable in payment integrity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The need: pattern recognition that is auditable by construction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8A8C"/>
                </a:solidFill>
                <a:latin typeface="Calibri"/>
              </a:rPr>
              <a:t>THE CONCEPT — 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2A43"/>
                </a:solidFill>
                <a:latin typeface="Calibri"/>
              </a:rPr>
              <a:t>Pattern recognition across Treatment, Payment &amp;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Classification · Prediction · Inference · Clustering · Anomaly detection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Agentic chain reasoning: retrieve -&gt; generate -&gt; filter -&gt; rank -&gt; explain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Key insight: treatment appropriateness and claims appropriateness are the same problem from two ends of care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The frontier isn't more power — it's grounded, explainable reasoning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8A8C"/>
                </a:solidFill>
                <a:latin typeface="Calibri"/>
              </a:rPr>
              <a:t>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2A43"/>
                </a:solidFill>
                <a:latin typeface="Calibri"/>
              </a:rPr>
              <a:t>Where the field is heading (2024–2026)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1A232B"/>
                </a:solidFill>
                <a:latin typeface="Calibri"/>
              </a:rPr>
              <a:t>•  Retrieval-grounded reasoning replaces free-form generation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1A232B"/>
                </a:solidFill>
                <a:latin typeface="Calibri"/>
              </a:rPr>
              <a:t>•  Separation of decision from explanation — deterministic model decides, LLM only describes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1A232B"/>
                </a:solidFill>
                <a:latin typeface="Calibri"/>
              </a:rPr>
              <a:t>•  Synthetic + open data (Synthea, DDInter) enable safe, PHI-free prototyping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1A232B"/>
                </a:solidFill>
                <a:latin typeface="Calibri"/>
              </a:rPr>
              <a:t>•  Regulation (FDA SaMD) pushes explainability from nice-to-have to mandatory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8A8C"/>
                </a:solidFill>
                <a:latin typeface="Calibri"/>
              </a:rPr>
              <a:t>THE POC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2A43"/>
                </a:solidFill>
                <a:latin typeface="Calibri"/>
              </a:rPr>
              <a:t>A "decision-deterministic, explanation-only"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8A8C"/>
                          </a:solidFill>
                        </a:rPr>
                        <a:t>1. Retrieve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2B"/>
                          </a:solidFill>
                        </a:rPr>
                        <a:t>Embed patient -&gt; similar patients + guideline chunks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8A8C"/>
                          </a:solidFill>
                        </a:rPr>
                        <a:t>2. Generate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2B"/>
                          </a:solidFill>
                        </a:rPr>
                        <a:t>Assemble candidate therapies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8A8C"/>
                          </a:solidFill>
                        </a:rPr>
                        <a:t>3. Safety filter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2B"/>
                          </a:solidFill>
                        </a:rPr>
                        <a:t>Remove contraindications + drug interactions (DDInter)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8A8C"/>
                          </a:solidFill>
                        </a:rPr>
                        <a:t>4. 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2B"/>
                          </a:solidFill>
                        </a:rPr>
                        <a:t>LightGBM scores survivors on 5 clinical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8A8C"/>
                          </a:solidFill>
                        </a:rPr>
                        <a:t>5. Explain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232B"/>
                          </a:solidFill>
                        </a:rPr>
                        <a:t>LLM writes a CITED rationale — cannot change the ranking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1">
                <a:solidFill>
                  <a:srgbClr val="0F2A43"/>
                </a:solidFill>
                <a:latin typeface="Calibri"/>
              </a:rPr>
              <a:t>A grounding guard suppresses any recommendation without a citation.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8A8C"/>
                </a:solidFill>
                <a:latin typeface="Calibri"/>
              </a:rPr>
              <a:t>POC DEMO — THE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2A43"/>
                </a:solidFill>
                <a:latin typeface="Calibri"/>
              </a:rPr>
              <a:t>Live: patient in -&gt; ranked, cited recommendation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Real synthetic cohort: 107 T2D patients from Synthea, parsed from FHIR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Recommendation carries a guideline citation + per-feature score breakdown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The rationale is explicitly labeled "LLM — explanation only"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The Recommendation — recommended drug, rationale, citations, feature bar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EF692-AD09-4252-5044-D9B635F84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6451"/>
            <a:ext cx="12192000" cy="6118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8A8C"/>
                </a:solidFill>
                <a:latin typeface="Calibri"/>
              </a:rPr>
              <a:t>POC DEMO — SAFETY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2A43"/>
                </a:solidFill>
                <a:latin typeface="Calibri"/>
              </a:rPr>
              <a:t>The safety filter catches what a naive model would miss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Drag eGFR below 30 -&gt; metformin is removed, with the contraindication cited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Backed by DDInter 2.0 (~300k severity-graded drug interactions)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Removed drugs are shown WITH reasons — the audit trail an appeal needs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Safety Filter (1 of 2) — candidates assembled + start of the removed-drugs table (CKD-4 patient)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745291-3E22-23A4-2E96-28BE4DA72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688"/>
            <a:ext cx="12192000" cy="5647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Safety Filter (2 of 2) — removed-drugs table: drug, severity, reason, citation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15A39-1610-C1BD-DB6B-59B37285C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0842"/>
            <a:ext cx="12192000" cy="5453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8A8C"/>
                </a:solidFill>
                <a:latin typeface="Calibri"/>
              </a:rPr>
              <a:t>POC DEMO — TRANSPARENT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2A43"/>
                </a:solidFill>
                <a:latin typeface="Calibri"/>
              </a:rPr>
              <a:t>Deterministic ranking on 5 explainable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guideline_relevance · similar_patient_success · interaction_safety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comorbidity_compatibility · lab_value_compatibility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1A232B"/>
                </a:solidFill>
                <a:latin typeface="Calibri"/>
              </a:rPr>
              <a:t>•  A LightGBM LambdaRank model — no opaque scoring, every feature in [0,1]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Transparent Ranking — ranked drugs with per-feature scores and first_line flags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6E6C0-6970-8B5D-8B7E-5B7847BE1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9705"/>
            <a:ext cx="12192000" cy="5371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Pipeline Log — agent trace: retrieve -&gt; generate -&gt; filter -&gt; rank -&gt; explain -&gt; grounding check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2EDFF-96D9-7D42-EE06-592C48C7B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0332"/>
            <a:ext cx="12192000" cy="53479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1F8A8C"/>
                </a:solidFill>
                <a:latin typeface="Calibri"/>
              </a:rPr>
              <a:t>OPPORTUNITIES &amp; THREATS FOR COTIVITI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2A43"/>
                </a:solidFill>
                <a:latin typeface="Calibri"/>
              </a:rPr>
              <a:t>Why this architecture matters to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1E7A46"/>
                </a:solidFill>
                <a:latin typeface="Calibri"/>
              </a:rPr>
              <a:t>OPPORTUNITY:  </a:t>
            </a:r>
            <a:r>
              <a:rPr sz="1800" b="0" i="0">
                <a:solidFill>
                  <a:srgbClr val="1A232B"/>
                </a:solidFill>
                <a:latin typeface="Calibri"/>
              </a:rPr>
              <a:t>Extend payment integrity upstream into clinical-appropriateness &amp; quality review — same retrieve-rank-explain machinery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1E7A46"/>
                </a:solidFill>
                <a:latin typeface="Calibri"/>
              </a:rPr>
              <a:t>OPPORTUNITY:  </a:t>
            </a:r>
            <a:r>
              <a:rPr sz="1800" b="0" i="0">
                <a:solidFill>
                  <a:srgbClr val="1A232B"/>
                </a:solidFill>
                <a:latin typeface="Calibri"/>
              </a:rPr>
              <a:t>Make every determination audit-ready by construction -&gt; faster reviewers, defensible appeals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C03A2B"/>
                </a:solidFill>
                <a:latin typeface="Calibri"/>
              </a:rPr>
              <a:t>THREAT:  </a:t>
            </a:r>
            <a:r>
              <a:rPr sz="1800" b="0" i="0">
                <a:solidFill>
                  <a:srgbClr val="1A232B"/>
                </a:solidFill>
                <a:latin typeface="Calibri"/>
              </a:rPr>
              <a:t>Unaudited generative AI — hallucinated justifications create legal, regulatory &amp; reputational risk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C03A2B"/>
                </a:solidFill>
                <a:latin typeface="Calibri"/>
              </a:rPr>
              <a:t>THREAT:  </a:t>
            </a:r>
            <a:r>
              <a:rPr sz="1800" b="0" i="0">
                <a:solidFill>
                  <a:srgbClr val="1A232B"/>
                </a:solidFill>
                <a:latin typeface="Calibri"/>
              </a:rPr>
              <a:t>Competitive — if Cotiviti doesn't own the explainable layer, others set a lower trust bar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Adopt "decision-deterministic, explanation-only" as a reference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371600" cy="6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 dirty="0">
                <a:solidFill>
                  <a:srgbClr val="14B8A6"/>
                </a:solidFill>
                <a:latin typeface="Calibri"/>
              </a:rPr>
              <a:t>1. Standardize  </a:t>
            </a:r>
            <a:r>
              <a:rPr sz="2000" b="0" i="0" dirty="0">
                <a:solidFill>
                  <a:srgbClr val="E6ECF1"/>
                </a:solidFill>
                <a:latin typeface="Calibri"/>
              </a:rPr>
              <a:t>the pattern for any LLM-assisted determination — clinical or payment</a:t>
            </a:r>
          </a:p>
          <a:p>
            <a:pPr>
              <a:spcAft>
                <a:spcPts val="1600"/>
              </a:spcAft>
            </a:pPr>
            <a:r>
              <a:rPr sz="2000" b="1" i="0" dirty="0">
                <a:solidFill>
                  <a:srgbClr val="14B8A6"/>
                </a:solidFill>
                <a:latin typeface="Calibri"/>
              </a:rPr>
              <a:t>2. Build  </a:t>
            </a:r>
            <a:r>
              <a:rPr sz="2000" b="0" i="0" dirty="0">
                <a:solidFill>
                  <a:srgbClr val="E6ECF1"/>
                </a:solidFill>
                <a:latin typeface="Calibri"/>
              </a:rPr>
              <a:t>a versioned "policy-as-evidence" corpus so retrieval grounds in Cotiviti's own authoritative rules</a:t>
            </a:r>
          </a:p>
          <a:p>
            <a:pPr>
              <a:spcAft>
                <a:spcPts val="1600"/>
              </a:spcAft>
            </a:pPr>
            <a:r>
              <a:rPr sz="2000" b="1" i="0" dirty="0">
                <a:solidFill>
                  <a:srgbClr val="14B8A6"/>
                </a:solidFill>
                <a:latin typeface="Calibri"/>
              </a:rPr>
              <a:t>3. Differentiate  </a:t>
            </a:r>
            <a:r>
              <a:rPr sz="2000" b="0" i="0" dirty="0">
                <a:solidFill>
                  <a:srgbClr val="E6ECF1"/>
                </a:solidFill>
                <a:latin typeface="Calibri"/>
              </a:rPr>
              <a:t>in market: sell auditable AI to payers/providers who must defend every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919</Words>
  <Application>Microsoft Office PowerPoint</Application>
  <PresentationFormat>Widescreen</PresentationFormat>
  <Paragraphs>80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Janam Patel</cp:lastModifiedBy>
  <cp:revision>2</cp:revision>
  <dcterms:created xsi:type="dcterms:W3CDTF">2013-01-27T09:14:16Z</dcterms:created>
  <dcterms:modified xsi:type="dcterms:W3CDTF">2026-06-26T22:07:58Z</dcterms:modified>
  <cp:category/>
</cp:coreProperties>
</file>